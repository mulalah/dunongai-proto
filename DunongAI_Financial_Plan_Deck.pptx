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400000</c:v>
                </c:pt>
                <c:pt idx="2">
                  <c:v>478210</c:v>
                </c:pt>
                <c:pt idx="3">
                  <c:v>248590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/ (Loss)</c:v>
                </c:pt>
              </c:strCache>
            </c:strRef>
          </c:tx>
          <c:spPr>
            <a:solidFill>
              <a:srgbClr val="E0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-427760</c:v>
                </c:pt>
                <c:pt idx="1">
                  <c:v>92480</c:v>
                </c:pt>
                <c:pt idx="2">
                  <c:v>9264</c:v>
                </c:pt>
                <c:pt idx="3">
                  <c:v>-227468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Closing cash balance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924340</c:v>
                </c:pt>
                <c:pt idx="1">
                  <c:v>785600</c:v>
                </c:pt>
                <c:pt idx="2">
                  <c:v>659740</c:v>
                </c:pt>
                <c:pt idx="3">
                  <c:v>972720</c:v>
                </c:pt>
                <c:pt idx="4">
                  <c:v>891420</c:v>
                </c:pt>
                <c:pt idx="5">
                  <c:v>789720</c:v>
                </c:pt>
                <c:pt idx="6">
                  <c:v>666344</c:v>
                </c:pt>
                <c:pt idx="7">
                  <c:v>553851</c:v>
                </c:pt>
                <c:pt idx="8">
                  <c:v>836484</c:v>
                </c:pt>
                <c:pt idx="9">
                  <c:v>791902</c:v>
                </c:pt>
                <c:pt idx="10">
                  <c:v>724926</c:v>
                </c:pt>
                <c:pt idx="11">
                  <c:v>676516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A financial plan answers three questions — where the business is now, where it's going, and how the money moves to get there. We answer those with three statements, projected monthly for Year 1. Note up front: our product is FREE for public-school students, so Year 1 isn't a profit year — it's a funded year to prove the product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statements, three questions. Then the key framing: our product is free for our main users by design, so Year 1 is a funded proving year — not a failure to make profit. Grants and a small investment pay for it while parent subscriptions and a DepEd license start to bring in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engine of the model. Walk through the big drivers: parents pay 99 pesos a month, DepEd pays 8 pesos per learner per year, each AI session costs us 8 centavos, a new story costs 400 pesos to make. We start with 1.5M capital plus 800K in grants. Key point: every blue cell is editable and recalculates everything — and all of it traces back to our business model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whether we make or lose money. Revenue minus delivery cost = gross profit; minus operating expenses = the bottom line. Two things stand out: gross margin is ~89% because AI delivery is incredibly cheap — our WHOLE year of AI costs is under 50,000 pesos even at 16,000 learners. Second, the net loss of 553K is intentional and funded — Q1 is pre-revenue pilot, revenue and grants arrive from 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Profit and cash are not the same — a company can look profitable and still run out of cash. This tracks actual money in and out. We end with 676K and never drop below ~554K. The big outflows are Month 1 (equipment and platform build); the grants in Q2 and Q3 top us back up. The lowest point is Month 8, right before the second grant — something we'd watch closely.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balance sheet is a snapshot of what we own (assets), owe (liabilities), and what's left for owners (equity). The rule: assets = liabilities + equity, always. Ours is 976,516 on both sides — it balances every month, which proves the model is consistent. Assets are mostly cash and the platform; the only liability is deferred revenue (DepEd prepays a year); equity dropped by the 553K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story: Year 1 is a funded, loss-making proving year with excellent unit economics. We end with healthy cash, recurring parent revenue near 100K per month, and a clear path to sustainability via paid tiers and a seed round. Then handle the two likely questions confidently: the loss is by design, and the numbers are editable and research-based.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DunongAI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</a:rPr>
              <a:t>Financial Plan — Year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E0"/>
                </a:solidFill>
              </a:rPr>
              <a:t>An AI-Powered Adaptive Reading Companion for Philippine Public Schools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Income Statement</a:t>
            </a:r>
            <a:pPr indent="0" marL="0">
              <a:buNone/>
            </a:pPr>
            <a:r>
              <a:rPr lang="en-US" sz="1400" b="1" dirty="0">
                <a:solidFill>
                  <a:srgbClr val="E0A800"/>
                </a:solidFill>
              </a:rPr>
              <a:t>   •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Cash Flow</a:t>
            </a:r>
            <a:pPr indent="0" marL="0">
              <a:buNone/>
            </a:pPr>
            <a:r>
              <a:rPr lang="en-US" sz="1400" b="1" dirty="0">
                <a:solidFill>
                  <a:srgbClr val="E0A800"/>
                </a:solidFill>
              </a:rPr>
              <a:t>   •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Balance Sheet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C2"/>
                </a:solidFill>
              </a:rPr>
              <a:t>Group 4 — Cantos, Labay, Gamboa, Delos Santos   |   All figures in Philippine Pesos (₱)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</a:rPr>
              <a:t>THE BIG PICTURE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three statements — and why Year 1 looks the way it does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929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Income Statement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2951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Do we make or lose money over a period? Revenue minus costs.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44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0083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Cash Flow Statement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37413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Does money actually stay in the bank? Cash in vs. cash out.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Balance Sheet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4531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What do we own, owe, and what's left over — at a point in time.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192024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00"/>
                </a:solidFill>
              </a:rPr>
              <a:t>Our model in one sentence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26060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Free for public-school students.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Year 1 is a deliberately funded, build-and-prove year — paid for by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grants + a small pre-seed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 — while paid revenue from parents and DepEd begins to ramp.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DunongAI  |  Financial Plan — Year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</a:rPr>
              <a:t>1 · KEY ASSUMPTIONS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inputs that drive the whole model</a:t>
            </a:r>
            <a:endParaRPr lang="en-US" sz="3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6126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286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freemium subscription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₱99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DepEd institutional 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₱8 / learner /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inference cost (Claude Haiku)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₱0.08 / 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₱400 / leveled 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Founders' + pre-seed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₱1,500,000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funding (DOST + USAID)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₱800,000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learners by Month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96596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Editable inputs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69480" y="2468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Every figure here is a blue cell in the workbook. Change one and all three statements recalculate instantly — so we can test any scenario live.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40880" y="35661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37307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00"/>
                </a:solidFill>
              </a:rPr>
              <a:t>Where they come from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69480" y="4078224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All assumptions are pulled straight from our Business Model Canvas and SWOT/TOWS strategy — so the financials are consistent with everything else we submitted.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DunongAI  |  Financial Plan — Year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</a:rPr>
              <a:t>2 · INCOME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vs. profit — a funded loss with strong margins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96596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90688" y="2148840"/>
            <a:ext cx="17007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₱1,126,800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36408" y="2901391"/>
            <a:ext cx="160934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Total revenue (Year 1)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92640" y="196596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756648" y="2148840"/>
            <a:ext cx="17007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88.9%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802368" y="2901391"/>
            <a:ext cx="160934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Gross profit margin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26680" y="356616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90688" y="3749040"/>
            <a:ext cx="17007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(₱553,484)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836408" y="4501591"/>
            <a:ext cx="160934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Net loss (Year 1)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692640" y="356616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756648" y="3749040"/>
            <a:ext cx="17007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₱48,480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802368" y="4501591"/>
            <a:ext cx="160934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Total AI cost / year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26680" y="51663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Why a loss?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It's intentional — the product is free for public schools and the biggest cost is salaries + the pilot, exactly what grant money funds.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DunongAI  |  Financial Plan — Year 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</a:rPr>
              <a:t>3 · CASH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in the bank — positive every single month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9659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19288" y="2148840"/>
            <a:ext cx="34381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₱676,516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065008" y="2841041"/>
            <a:ext cx="33467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Cash at year-end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55280" y="3383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19288" y="3566160"/>
            <a:ext cx="343814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₱553,851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065008" y="4258361"/>
            <a:ext cx="33467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Lowest point (Month 8)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55280" y="48463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Profit ≠ cash.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Big outflows hit in Month 1 (equipment + building the platform); grant tranches in Q2 and Q3 refill the runway. The dip in Month 8 is just before our second grant lands.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DunongAI  |  Financial Plan — Year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</a:rPr>
              <a:t>4 · BALANCE SHEET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own, owe, and have left — and it balances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94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</a:rPr>
              <a:t>ASSETS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₱976,516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04672" y="30906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Cash ₱677K  +  Platform ₱200K  +  Equipment ₱100K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0" y="2103120"/>
            <a:ext cx="640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800"/>
                </a:solidFill>
              </a:rPr>
              <a:t>=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2494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0A800"/>
                </a:solidFill>
              </a:rPr>
              <a:t>LIABILITIES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560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₱30,000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828032" y="3090672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Deferred revenue (DepEd paid upfront)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52360" y="2103120"/>
            <a:ext cx="548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800"/>
                </a:solidFill>
              </a:rPr>
              <a:t>+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8001000" y="2103120"/>
            <a:ext cx="3822192" cy="1554480"/>
          </a:xfrm>
          <a:prstGeom prst="roundRect">
            <a:avLst>
              <a:gd name="adj" fmla="val 4706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0" y="224942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8E5A"/>
                </a:solidFill>
              </a:rPr>
              <a:t>EQUITY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256032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₱946,516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165592" y="309067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Capital ₱1.5M  −  Accumulated loss ₱553K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16052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00"/>
                </a:solidFill>
              </a:rPr>
              <a:t>It balances: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₱976,516 in assets  =  ₱976,516 in liabilities + equity, in every month of the year — proof the model is internally consistent.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Reading it: 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our assets are mostly cash plus the platform we built. Our only liability is deferred revenue — DepEd pays a full year upfront, so the unearned part is service we still owe. Equity fell by the ₱553K loss we absorbed.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DunongAI  |  Financial Plan — Year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76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Year 1 is a deliberately funded, loss-making proving year — not a profit year.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Unit economics are exceptional: ~89% gross margin; under ₱50K of AI cost all year.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₱1.5M pre-seed + ₱800K grants fully fund the year with a healthy cash buffer.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Parent subscriptions reach ~₱100K MRR by Month 12 — the engine for Year 2.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Path to sustainability: scale paid tiers + a Q4 seed round.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181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Anticipate from the panel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18120" y="21945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E2761"/>
                </a:solidFill>
              </a:rPr>
              <a:t>“Why are you losing money?”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A6478"/>
                </a:solidFill>
              </a:rPr>
              <a:t>By design — the product is free for our main users. The loss is funded investment, and margins are 89%.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E2761"/>
                </a:solidFill>
              </a:rPr>
              <a:t>“How reliable are these numbers?”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Assumptions are research-based, editable inputs — we can test any scenario instantly.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5C2"/>
                </a:solidFill>
              </a:rPr>
              <a:t>Thank you  —  Group 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DunongAI Financial Plan — Year 1</dc:title>
  <dc:subject>PptxGenJS Presentation</dc:subject>
  <dc:creator>Group 4 — Cantos, Labay, Gamboa, Delos Santos</dc:creator>
  <cp:lastModifiedBy>Group 4 — Cantos, Labay, Gamboa, Delos Santos</cp:lastModifiedBy>
  <cp:revision>1</cp:revision>
  <dcterms:created xsi:type="dcterms:W3CDTF">2026-06-20T11:09:36Z</dcterms:created>
  <dcterms:modified xsi:type="dcterms:W3CDTF">2026-06-20T11:09:36Z</dcterms:modified>
</cp:coreProperties>
</file>